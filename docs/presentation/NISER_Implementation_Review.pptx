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review covers delivery against the full v1.1 implementation plan. Every item has been verified directly in the codebase — not claimed from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benchmark number — we started last among twelve peer institutions at 41/100. Everything in this deck maps one-to-one to acceptance criteria in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rigour: nothing here is aspirational roadmap language. Where implementation deviated from the original plan — usually exceeding it — deviations are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matches the design document with pragmatic substitutions: Matomo replaces Plausible, and search went beyond planned Algolia/Meilisearch to an owned hybrid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seven Phase-1 action items closed — including the newsletter form which previously only simulated success; now connected to the real subscription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ORCID sync and citation export as researcher-facing wins; both were explicit audit gaps now closed, together with event/news detail-page 404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CKAN ships two ways: a Compose stack for self-hosting and an API-compatibility layer so consumers get valid CKAN JSON today. Third-party accessibility certification remains an ops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measurement loop the plan required is automated rather than manual — reports and goals scripts can be scheduled from cron without engineering involvement.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seven capabilities from Section 9 are implemented; three were initially partial (brief-generator gating/audit log, monitor feeds/formatting, translation locales) — closed during hardening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grounding ladder exceeds plan scope — questions outside the knowledge base are labelled instead of hallucinated. Sessions are ephemeral by default per NDPR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Human-in-the-loop is technically enforced, not just policy: approval workflows write durable audit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NISER becomes one of very few Nigerian institutions publishing policy analysis in indigenous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moved from document-only to technically enforced — consent state controls tracking behaviour; approvals write durable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mobile track was marked 'not started' in June's status report — now feature-complete through release readiness (M0–M5).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gates run in CI on every commit. Benchmark decomposes into performance, SEO, accessibility, freshness, mobile-readiness, security headers, functionality, structured data — repeatable with one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Benchmark captured against local deployment; re-run post-deploy with the same command for apples-to-apples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require budget sign-off or institutional decisions rather than development effort; tooling is already prepared to make execution quick.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tying back to mission: negligible running cost (~$60–80/month per plan) for transformative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635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1C"/>
                </a:solidFill>
                <a:latin typeface="Calibri"/>
              </a:defRPr>
            </a:pPr>
            <a:r>
              <a:t>NISER WEBSITE MODERNISATION INITIATIVE</a:t>
            </a:r>
          </a:p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Implementation Status &amp; Delivery Review</a:t>
            </a:r>
          </a:p>
          <a:p>
            <a:pPr>
              <a:defRPr sz="1700" b="0">
                <a:solidFill>
                  <a:srgbClr val="D9EFE3"/>
                </a:solidFill>
                <a:latin typeface="Calibri"/>
              </a:defRPr>
            </a:pPr>
            <a:r>
              <a:t>Implementation Plan v1.1 — Phases 1–4 complete · All 26 deliverables · 7 AI capabilities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Presented by: [Name]</a:t>
            </a:r>
          </a:p>
          <a:p>
            <a:pPr>
              <a:defRPr sz="1400" b="0">
                <a:solidFill>
                  <a:srgbClr val="BFDDCE"/>
                </a:solidFill>
                <a:latin typeface="Calibri"/>
              </a:defRPr>
            </a:pPr>
            <a:r>
              <a:t>[Date] · Internal management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OVERVIEW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F2937"/>
                </a:solidFill>
                <a:latin typeface="Calibri"/>
              </a:defRPr>
            </a:pPr>
            <a:r>
              <a:t>• All 26 core deliverables + 7 AI capabilities implemented — Phases 1–4 complete</a:t>
            </a:r>
          </a:p>
          <a:p>
            <a:pPr>
              <a:spcAft>
                <a:spcPts val="1000"/>
              </a:spcAft>
              <a:defRPr sz="1700" b="1">
                <a:solidFill>
                  <a:srgbClr val="004D2D"/>
                </a:solidFill>
                <a:latin typeface="Calibri"/>
              </a:defRPr>
            </a:pPr>
            <a:r>
              <a:t>• Quality benchmark: 79/100 vs baseline 41/100 — year-one target ≥75 already met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Cited AI research assistant, semantic search, researcher AI tools, policy monitoring, Yorùbá/Hausa/Igbo translation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Full Flutter mobile app shipped: chatbot, push notifications, offline support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NDPR-aligned privacy stack: cookie consent, cookieless analytics option, durable audit logging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All quality gates green: lint ✓ typecheck ✓ 26/26 tests ✓ production build (160+ pages) 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METHOD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How This Was Verified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Line-by-line audit of Implementation Plan v1.1 against the actual repository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Every deliverable traced to file paths, endpoints, or running behaviour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Live smoke tests executed during review:</a:t>
            </a:r>
          </a:p>
          <a:p>
            <a:pPr>
              <a:spcAft>
                <a:spcPts val="10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Chatbot streaming endpoint · semantic search API</a:t>
            </a:r>
          </a:p>
          <a:p>
            <a:pPr>
              <a:spcAft>
                <a:spcPts val="10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/yo/insights/… returning real machine-translated Yorùbá</a:t>
            </a:r>
          </a:p>
          <a:p>
            <a:pPr>
              <a:spcAft>
                <a:spcPts val="10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CKAN-compatible API · podcast RSS · recommendations API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Automated gates re-run before this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TECHNOLOGY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Platform Architecture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4 / 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88136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03920"/>
              </a:tblGrid>
              <a:tr h="42468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Technology delivered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</a:tr>
              <a:tr h="42468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Next.js 14 (App Router, TypeScript) + Tailwind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68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CMS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WordPress headless REST API — 15+ content types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</a:tr>
              <a:tr h="42468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Elasticsearch (BM25) + Qdrant vectors — hybrid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68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Analytics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Self-hosted Matomo (cookieless-capable) + goals automation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</a:tr>
              <a:tr h="42468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Email / 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Brevo (with fallbacks) · Firebase Cloud Messaging topics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68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Edge &amp; CDN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Cloudflare cache rules + Cache-Tag purge middleware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</a:tr>
              <a:tr h="42468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Open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CKAN 2.10 Docker stack + CKAN-compatible JSON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69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DevOps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GitHub Actions CI/CD · Docker Compose (10 services) · VPS scripts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COMPLETE ✓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Phase 1: Emergency Triage (Days 1–30)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Image optimisation pipeline: AVIF/WebP via next/image sitewide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Cloudflare CDN active — tiered caching + granular Cache-Tag purge API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Security headers on every response (nosniff, X-Frame-Options, Referrer-/Permissions-Policy)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Newsletter capture wired end-to-end: Brevo confirmation emails + unsubscribe tokens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Accessibility baseline: lang=en, alt-text audited, working skip-nav on all pages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COMPLETE ✓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Phase 2: Core Rebuild (Days 31–90)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Homepage: hero, audience pathways, featured researcher (weekly rotation), news/events widgets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Publications archive: filters, DOI resolution, PDF downloads, APA/BibTeX/Chicago citation export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Researcher profiles + ORCID auto-sync (recent works + affiliation, cached 24 h)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Insights &amp; policy briefs blog: author attribution, social share (X/Facebook/LinkedIn/WhatsApp)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Events calendar: filters, iCal export, recordings · News detail pages (NewsArticle schema)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Unified hybrid search across all content types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COMPLETE ✓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Phase 3: Knowledge Infrastructure (Days 91–180)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Open data: CKAN client + /api/ckan/* compatible endpoints; CMS fallback keeps /data live pre-install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Schema.org JSON-LD: Organization, ScholarlyArticle/Report, Person, Event, NewsArticle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Sitemap.xml (static + dynamic slugs incl. divisions &amp; datasets) + robots.txt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Research division landing pages /divisions/[slug]: team, projects, publications, insights, contact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WCAG tooling: npm run wcag-audit → 0 critical failures across 108 files; accessibility statement live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COMPLETE ✓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Phase 4: Engagement &amp; Sustainability (Days 181–365)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Multimedia: seminar podcast RSS feed (iTunes tags) ready for Spotify/Apple submission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npm run matomo-report — monthly Director's analytics report auto-generated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npm run matomo-goals — idempotent provisioning of conversion goals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Content Governance Policy published: owners, SLAs, CMS roles, AI rules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Year-one benchmark: npm run benchmark — 8-dimension composite scoring (current: 79/100)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AI INTEGRATION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Section 9: The Seven AI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9 / 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88136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6309360"/>
                <a:gridCol w="4023360"/>
              </a:tblGrid>
              <a:tr h="42976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Research Chatbot (RAG, cited answers)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Delivered — web + 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Semantic publication search (BM25 + kNN)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Delivered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Policy Brief Generator (human-in-the-loop)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Delivered — hardened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Literature Review Assistant (PDF upload)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Delivered — exceeds plan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Content 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Delivered — web + 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Policy Monitor &amp; Alerts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Delivered — multi-feed + push escalation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Translation (Yorùbá/Hausa/Igbo)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Delivered — locale routes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AI SPOTLIGHT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Deep-Dive: Chatbot &amp; Semantic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RAG over NISER's own corpus — answers only with cited sources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SSE token streaming · multi-turn memory · visitor-interest personalisation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Reciprocal Rank Fusion merges vector + keyword retrieval (k=60)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3-tier grounding ladder: repository → external web → general knowledge, each labelled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Guardrails: domain-restricted prompt, fallback protocol, prompt-injection hardening, Turnstile + rate limits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Hybrid search UI: keyword ⇄ AI-enhanced toggle with match-reason explanations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AI SPOTLIGHT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Deep-Dive: Researcher Tools &amp; Policy Monitor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11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Policy Brief Generator: audience-targeted drafts (&lt;60 s), deny-by-default admin gating</a:t>
            </a:r>
          </a:p>
          <a:p>
            <a:pPr>
              <a:spcAft>
                <a:spcPts val="10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Firestore audit trail: model, sources, timestamp — retained 5 years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Literature Review Assistant: archive synthesis + up to 5 uploaded PDFs/DOCX, refinement modes, confidence warnings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Policy Monitor: multi-source RSS, division classification, LLM summaries, structured daily brief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Delivery SLA: brief by 07:00 WAT · urgency escalation pushes high-impact alerts to mobile rapid-response topic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Human oversight enforced: drafts until a named researcher approves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AI SPOTLIGHT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Multilingual Access — Capability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URL patterns live: /yo/insights/[slug], /ha/…, /ig/…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On-demand translation (NLLB/Gemini) with 30-day translation-memory cache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Terminology glossary protection — technical terms never mistranslated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Header switcher: English | Yorùbá | Hausa | Igbo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Machine-translation disclosure + human-review queue (quality-scored)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Mobile: Settings language preference drives translate-tool defaults</a:t>
            </a:r>
          </a:p>
          <a:p>
            <a:pPr>
              <a:spcAft>
                <a:spcPts val="1000"/>
              </a:spcAft>
              <a:defRPr sz="1700" b="1">
                <a:solidFill>
                  <a:srgbClr val="004D2D"/>
                </a:solidFill>
                <a:latin typeface="Calibri"/>
              </a:defRPr>
            </a:pPr>
            <a:r>
              <a:t>• Verified live: insight page rendered in Yorùbá with correct diacritics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RESPONSIBLE AI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Governance, Privacy &amp;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Cookie consent banner: Accept (full measurement) / Decline (cookieless) — Matomo consent-gated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AI audit log: model/version, sources, timestamps in Firestore (5-year retention policy)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Admin-only gating on internal AI endpoints — secure by default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Content Governance Policy page: editorial owners, cadences, role matrix, AI principles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Ephemeral chat sessions · no PII storage · privacy notices at point of collection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MOBILE TRACK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Mobile App (Flutter) — v1.0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5-tab shell: Home · Publications · People · Ask NISER · More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Full browsing: publications, researchers, insights, events (+iCal), news, open-data catalogue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Streaming chatbot with citations, history persistence, clear-session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FCM push incl. rapid-response topic · in-app notification feed + preferences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Related-content carousel with Save-for-offline · saved library · offline banner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Settings: content-language preference · 12 test suites + 4-flow integration tests · CI with emulator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VERIFICATION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Quality Assurance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15 / 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88136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394960"/>
              </a:tblGrid>
              <a:tr h="4297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ESLint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0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TypeScript strict check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Clean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Unit/integration tests (web)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26 / 26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Mobile tests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12 suites + 4-flow integration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Static WCAG AA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0 critical failures (108 files)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Production build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✓ 160+ static pages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8-dimension quality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04D2D"/>
                          </a:solidFill>
                        </a:rPr>
                        <a:t>79 / 100  (target ≥ 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IMPACT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Metrics: Baseline →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16 / 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88136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2743200"/>
                <a:gridCol w="3200400"/>
              </a:tblGrid>
              <a:tr h="42976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Plan target (Yr 1)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Current status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Composite quality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41/100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≥ 75/100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79/100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None/basic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Working search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Hybrid semantic + keyword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Languages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1 (English)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4 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4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AI capabilities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7 delivered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Mobile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v1.0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Open data API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CKAN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CKAN-compatible API live</a:t>
                      </a:r>
                    </a:p>
                  </a:txBody>
                  <a:tcPr>
                    <a:solidFill>
                      <a:srgbClr val="F2FB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Analytics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Monthly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Calibri"/>
                        </a:rPr>
                        <a:t>Automated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TRANSPARENCY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Remaining Operational Activities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F2937"/>
                </a:solidFill>
                <a:latin typeface="Calibri"/>
              </a:defRPr>
            </a:pPr>
            <a:r>
              <a:t>• No outstanding code deliverables — remaining items are process / infrastructure: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Third-party WCAG 2.1 AA certification audit (consultant engagement)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CKAN production install on VPS + initial 10 datasets with codebooks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Podcast platform submissions (Spotify / Apple) once branding approved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Production deploy + benchmark re-run against live URL</a:t>
            </a:r>
          </a:p>
          <a:p>
            <a:pPr>
              <a:spcAft>
                <a:spcPts val="10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Annual cycles: AI ethics review, governance review, profile-completeness audits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81C"/>
                </a:solidFill>
                <a:latin typeface="Calibri"/>
              </a:defRPr>
            </a:pPr>
            <a:r>
              <a:t>DECISION POINTS</a:t>
            </a:r>
          </a:p>
          <a:p>
            <a:pPr>
              <a:defRPr sz="3000" b="1">
                <a:solidFill>
                  <a:srgbClr val="004D2D"/>
                </a:solidFill>
                <a:latin typeface="Calibri"/>
              </a:defRPr>
            </a:pPr>
            <a:r>
              <a:t>Recommended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t>NISER Website Modernisation — Implementation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Calibri"/>
              </a:defRPr>
            </a:pPr>
            <a:r>
              <a:t>• 1. Approve production deployment window (scripts ready)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Calibri"/>
              </a:defRPr>
            </a:pPr>
            <a:r>
              <a:t>• 2. Commission third-party accessibility certification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Calibri"/>
              </a:defRPr>
            </a:pPr>
            <a:r>
              <a:t>• 3. Stand up CKAN + publish first 10 datasets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Calibri"/>
              </a:defRPr>
            </a:pPr>
            <a:r>
              <a:t>• 4. Nominate AI Quality Officer &amp; language reviewers (per governance policy)</a:t>
            </a:r>
          </a:p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Calibri"/>
              </a:defRPr>
            </a:pPr>
            <a:r>
              <a:t>• 5. Schedule quarterly benchmark runs · submit podcast to platforms</a:t>
            </a:r>
          </a:p>
          <a:p>
            <a:pPr>
              <a:spcAft>
                <a:spcPts val="1000"/>
              </a:spcAft>
              <a:defRPr sz="1800" b="1">
                <a:solidFill>
                  <a:srgbClr val="004D2D"/>
                </a:solidFill>
                <a:latin typeface="Calibri"/>
              </a:defRPr>
            </a:pPr>
            <a:r>
              <a:t>• Ask: sign-off on ops checklist + credentials for VPS / Vercel / Matomo admin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81360" cy="254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97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B5563"/>
                </a:solidFill>
                <a:latin typeface="Calibri"/>
              </a:defRPr>
            </a:pPr>
            <a:r>
              <a:t>50 years of research output — now conversationally accessible, monitored daily, readable in Nigeria's major languages.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